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63" r:id="rId3"/>
    <p:sldId id="265" r:id="rId4"/>
    <p:sldId id="266" r:id="rId5"/>
    <p:sldId id="267" r:id="rId6"/>
    <p:sldId id="268" r:id="rId7"/>
    <p:sldId id="272" r:id="rId8"/>
    <p:sldId id="271" r:id="rId9"/>
    <p:sldId id="270" r:id="rId10"/>
    <p:sldId id="273" r:id="rId11"/>
    <p:sldId id="274" r:id="rId12"/>
    <p:sldId id="277" r:id="rId13"/>
    <p:sldId id="276" r:id="rId14"/>
    <p:sldId id="275" r:id="rId15"/>
    <p:sldId id="278" r:id="rId16"/>
    <p:sldId id="279" r:id="rId1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CB41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0" autoAdjust="0"/>
    <p:restoredTop sz="93969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19A28A4-1F62-ACAE-9481-06F96FF6E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7C962AE7-6012-48B6-7109-B301BE418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E2F2AF2-BCD3-0201-EB28-6840A0A3B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85E05-D908-402B-ABD9-63AC94688968}" type="datetimeFigureOut">
              <a:rPr lang="he-IL" smtClean="0"/>
              <a:t>י"ג/תשרי/תשפ"ה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54C344D-156D-E747-3FBB-AFCA3563F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D6A49EB-F255-2E2D-94D2-0D511CE7C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EDDE-AC96-4324-BE14-003FF5601B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654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E098BA-6AD3-5586-5F00-55BB9611E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5A67FC8-6F70-1E2E-2675-76D3F59E2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F703FDF-64B4-3EB8-74F7-AD34D5C2E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85E05-D908-402B-ABD9-63AC94688968}" type="datetimeFigureOut">
              <a:rPr lang="he-IL" smtClean="0"/>
              <a:t>י"ג/תשרי/תשפ"ה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8907081-34D0-84E0-8FD4-E78C098E0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43F13D7-4C5C-17AD-1096-AB630C977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EDDE-AC96-4324-BE14-003FF5601B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3691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62E7FBE-79D2-1DF5-8270-13AA5166A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E24EFA8-A652-8991-3B44-46CFDD3B5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095E33B-2D36-D1B1-6356-83C8045A4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85E05-D908-402B-ABD9-63AC94688968}" type="datetimeFigureOut">
              <a:rPr lang="he-IL" smtClean="0"/>
              <a:t>י"ג/תשרי/תשפ"ה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3AB578F-6A85-EBC0-1640-100BA1C86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7C3C159-EC31-5B98-0BC6-5626E20A4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EDDE-AC96-4324-BE14-003FF5601B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60583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F6621EE-1095-B039-88FD-A7A949FD8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45FE0B0-E6D9-5E3F-8D1C-6E3A108F2C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245FA5F-7593-82B7-15D5-0D797A4EB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852F844-1A8F-98A8-49D5-C7831896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85E05-D908-402B-ABD9-63AC94688968}" type="datetimeFigureOut">
              <a:rPr lang="he-IL" smtClean="0"/>
              <a:t>י"ג/תשרי/תשפ"ה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AE598C7-6A5E-83A2-8257-D95E05E7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440BDEC-00B1-6165-9DBF-B85B138AA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EDDE-AC96-4324-BE14-003FF5601B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4797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07BB3F1-2A82-F1C5-0784-C86B7966E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4352565-3765-2893-4D64-C569F63F7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B604AA6F-0112-C5BA-6551-4157DAEAB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51916DFD-BCD1-38D2-FDBE-9321D9665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5F84E04B-069E-93A0-5493-2C8D5FF029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EB843A52-F303-D52F-E545-D3DC881EB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85E05-D908-402B-ABD9-63AC94688968}" type="datetimeFigureOut">
              <a:rPr lang="he-IL" smtClean="0"/>
              <a:t>י"ג/תשרי/תשפ"ה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A0078E06-E57E-0997-9B99-537615907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26515D3E-01D0-DDFF-3F05-A5534FE40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EDDE-AC96-4324-BE14-003FF5601B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42516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247EC9-A1C8-8D33-5494-9A73F5076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71E8DE9A-AFA7-0DBF-5164-E90E346D0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85E05-D908-402B-ABD9-63AC94688968}" type="datetimeFigureOut">
              <a:rPr lang="he-IL" smtClean="0"/>
              <a:t>י"ג/תשרי/תשפ"ה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8B5C1F0-CDB8-6F6F-5B6F-90442AB56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F5D5A0A0-ABCC-B586-C60B-35C45FCB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EDDE-AC96-4324-BE14-003FF5601B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51506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D008152A-8C20-3241-498E-72C42309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85E05-D908-402B-ABD9-63AC94688968}" type="datetimeFigureOut">
              <a:rPr lang="he-IL" smtClean="0"/>
              <a:t>י"ג/תשרי/תשפ"ה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D817823-F5C5-EEF9-6C20-A0D5FC4D0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F83C802-7CFA-B029-A44A-F15EE919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EDDE-AC96-4324-BE14-003FF5601B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6973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66990BC-F723-E711-AFBA-E8E9139A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E7EC2C2-A1B1-726A-F506-E5D652EDF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D033B12-73C6-F145-2F1E-C4AA12306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191F061-D23D-DC10-DD46-0312F9165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85E05-D908-402B-ABD9-63AC94688968}" type="datetimeFigureOut">
              <a:rPr lang="he-IL" smtClean="0"/>
              <a:t>י"ג/תשרי/תשפ"ה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A8CE7C3-9A3C-0FE3-3378-3F15B2967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581CCF7-EDD7-375B-D3E3-2BAB5ECEC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EDDE-AC96-4324-BE14-003FF5601B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89090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B88D32C-BB5B-0D0C-C022-11FCFC1DA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8A818B74-6146-7EE1-F185-C33C3037DE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B65EF7F-77AC-7BD2-2FDC-EE3924BD37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9AE5285-6D02-F66A-9C9A-F9F0F54DA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85E05-D908-402B-ABD9-63AC94688968}" type="datetimeFigureOut">
              <a:rPr lang="he-IL" smtClean="0"/>
              <a:t>י"ג/תשרי/תשפ"ה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13FD6D67-59E8-319F-A18B-35301DD09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0BD65A5-E4F0-B95A-C8F2-E66641F46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EDDE-AC96-4324-BE14-003FF5601B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94437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EE10EE8-BBC2-EAE8-598C-7F23F0647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15733032-76FB-7E55-2257-1573F6DE1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FCA0094-55C0-59B5-31B2-0BB5A4801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85E05-D908-402B-ABD9-63AC94688968}" type="datetimeFigureOut">
              <a:rPr lang="he-IL" smtClean="0"/>
              <a:t>י"ג/תשרי/תשפ"ה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0F92E91-F390-0B92-DBDD-4967649B3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6E26BD5-AC8C-5976-1C08-3B3616416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EDDE-AC96-4324-BE14-003FF5601B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2381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87A56AA-4D36-6ACB-F902-5639AC8FF4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A6639F4-57A2-7882-EE91-16ABBD438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CD0792F-3484-2F1B-7EE4-BEE430899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85E05-D908-402B-ABD9-63AC94688968}" type="datetimeFigureOut">
              <a:rPr lang="he-IL" smtClean="0"/>
              <a:t>י"ג/תשרי/תשפ"ה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D744267-D378-C184-3730-9A57C6D1E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E346B15-0E15-CBCE-FA82-F6DD17B5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1EDDE-AC96-4324-BE14-003FF5601B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88971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AF6268F-5F5B-46C4-61E5-3D2281C54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846171A-27ED-A91E-89A1-712DE95D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5CA2032-F089-4B4C-1140-F7D1C76D3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A85E05-D908-402B-ABD9-63AC94688968}" type="datetimeFigureOut">
              <a:rPr lang="he-IL" smtClean="0"/>
              <a:t>י"ג/תשרי/תשפ"ה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8919B49-39B3-7ED5-F5AC-51F729E4B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DF73A6E-DE43-C4AD-E403-F0C923C86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91EDDE-AC96-4324-BE14-003FF5601B5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7835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C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תמונה 2" descr="תמונה שמכילה ירק, ירוק, צמח&#10;&#10;התיאור נוצר באופן אוטומטי">
            <a:extLst>
              <a:ext uri="{FF2B5EF4-FFF2-40B4-BE49-F238E27FC236}">
                <a16:creationId xmlns:a16="http://schemas.microsoft.com/office/drawing/2014/main" id="{43CEDDBF-51B3-812F-33C8-F5431B4BB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31" r="1" b="15513"/>
          <a:stretch/>
        </p:blipFill>
        <p:spPr>
          <a:xfrm>
            <a:off x="0" y="-2"/>
            <a:ext cx="11440315" cy="6858002"/>
          </a:xfrm>
          <a:prstGeom prst="rect">
            <a:avLst/>
          </a:prstGeom>
        </p:spPr>
      </p:pic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CEFDB412-E777-0078-F60F-DCE1A4855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82194" y="3050852"/>
            <a:ext cx="6858001" cy="756295"/>
          </a:xfrm>
          <a:prstGeom prst="rect">
            <a:avLst/>
          </a:prstGeom>
          <a:ln>
            <a:noFill/>
          </a:ln>
          <a:effectLst>
            <a:outerShdw blurRad="203200" dist="101600" dir="930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D2038E5-96D3-2DAE-7EEA-3E40ABD0E1D7}"/>
              </a:ext>
            </a:extLst>
          </p:cNvPr>
          <p:cNvSpPr txBox="1"/>
          <p:nvPr/>
        </p:nvSpPr>
        <p:spPr>
          <a:xfrm>
            <a:off x="6246224" y="830440"/>
            <a:ext cx="5455162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JO" sz="6000" b="1" dirty="0">
                <a:solidFill>
                  <a:srgbClr val="008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مَوسم قَطف الزَّيتون</a:t>
            </a:r>
            <a:endParaRPr lang="he-IL" sz="6000" b="1" dirty="0">
              <a:solidFill>
                <a:srgbClr val="008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F20276BD-283A-0BB7-D5E7-288C64A57955}"/>
              </a:ext>
            </a:extLst>
          </p:cNvPr>
          <p:cNvSpPr txBox="1"/>
          <p:nvPr/>
        </p:nvSpPr>
        <p:spPr>
          <a:xfrm>
            <a:off x="7071263" y="2808542"/>
            <a:ext cx="3805084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ar-JO" sz="3200" b="1" dirty="0">
                <a:solidFill>
                  <a:srgbClr val="92D050"/>
                </a:solidFill>
              </a:rPr>
              <a:t>مَجموعة فعّاليّات</a:t>
            </a:r>
            <a:endParaRPr lang="he-IL" sz="3200" b="1" dirty="0">
              <a:solidFill>
                <a:srgbClr val="92D050"/>
              </a:solidFill>
            </a:endParaRPr>
          </a:p>
        </p:txBody>
      </p:sp>
      <p:pic>
        <p:nvPicPr>
          <p:cNvPr id="2" name="תמונה 1" descr="תמונה שמכילה צהוב&#10;&#10;התיאור נוצר באופן אוטומטי">
            <a:extLst>
              <a:ext uri="{FF2B5EF4-FFF2-40B4-BE49-F238E27FC236}">
                <a16:creationId xmlns:a16="http://schemas.microsoft.com/office/drawing/2014/main" id="{4FDBDD96-472D-3AF1-F516-4036A4064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9764" y="3393317"/>
            <a:ext cx="3462728" cy="3270617"/>
          </a:xfrm>
          <a:prstGeom prst="rect">
            <a:avLst/>
          </a:prstGeom>
        </p:spPr>
      </p:pic>
      <p:pic>
        <p:nvPicPr>
          <p:cNvPr id="6" name="תמונה 5" descr="תמונה שמכילה בקבוק, ירק, זית, פירות&#10;&#10;התיאור נוצר באופן אוטומטי">
            <a:extLst>
              <a:ext uri="{FF2B5EF4-FFF2-40B4-BE49-F238E27FC236}">
                <a16:creationId xmlns:a16="http://schemas.microsoft.com/office/drawing/2014/main" id="{9E9DFDF7-434B-9379-84EB-7515BA37D4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"/>
            <a:ext cx="2974553" cy="276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798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C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76F12CAE-03F6-A51B-50E2-2D6F1727B611}"/>
              </a:ext>
            </a:extLst>
          </p:cNvPr>
          <p:cNvSpPr txBox="1"/>
          <p:nvPr/>
        </p:nvSpPr>
        <p:spPr>
          <a:xfrm>
            <a:off x="804472" y="939916"/>
            <a:ext cx="1058305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ما الرَّقَم الذي يَختَبِئ وَراء كُلّ صورَة؟</a:t>
            </a:r>
          </a:p>
          <a:p>
            <a:pPr algn="ctr"/>
            <a:r>
              <a:rPr lang="ar-J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(تَختبئ وَراء الصُّوَر المُتَشابِهَة أرقام مُتساوِيَة)</a:t>
            </a:r>
            <a:endParaRPr lang="he-IL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2164D6C2-CC28-E66C-F5AF-4BC6FAF30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725" y="3056692"/>
            <a:ext cx="8697603" cy="2996303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C7490B67-33ED-CEE1-76AD-DBC31D2FB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38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245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76F12CAE-03F6-A51B-50E2-2D6F1727B611}"/>
              </a:ext>
            </a:extLst>
          </p:cNvPr>
          <p:cNvSpPr txBox="1"/>
          <p:nvPr/>
        </p:nvSpPr>
        <p:spPr>
          <a:xfrm>
            <a:off x="804472" y="939916"/>
            <a:ext cx="105830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الحَلّ:</a:t>
            </a:r>
            <a:endParaRPr lang="he-IL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תמונה 17">
            <a:extLst>
              <a:ext uri="{FF2B5EF4-FFF2-40B4-BE49-F238E27FC236}">
                <a16:creationId xmlns:a16="http://schemas.microsoft.com/office/drawing/2014/main" id="{CB303255-729D-9A3B-11C1-AAABD70B8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442" y="2176563"/>
            <a:ext cx="9089955" cy="2995043"/>
          </a:xfrm>
          <a:prstGeom prst="rect">
            <a:avLst/>
          </a:prstGeom>
        </p:spPr>
      </p:pic>
      <p:pic>
        <p:nvPicPr>
          <p:cNvPr id="2" name="תמונה 1">
            <a:extLst>
              <a:ext uri="{FF2B5EF4-FFF2-40B4-BE49-F238E27FC236}">
                <a16:creationId xmlns:a16="http://schemas.microsoft.com/office/drawing/2014/main" id="{3EB69BB0-4810-4338-5214-1022A39FB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38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484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C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934109E-3158-A9BF-8F10-1E3F34BE11BB}"/>
              </a:ext>
            </a:extLst>
          </p:cNvPr>
          <p:cNvSpPr txBox="1"/>
          <p:nvPr/>
        </p:nvSpPr>
        <p:spPr>
          <a:xfrm>
            <a:off x="8278726" y="446605"/>
            <a:ext cx="36946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كُتِبَ حاصِل جَمع كُلّ سَطر على يَمينِه، وَكُتِبَ حاصِل جَمع كُلّ عَمود أسفَله </a:t>
            </a:r>
          </a:p>
          <a:p>
            <a:pPr algn="ctr"/>
            <a:endParaRPr lang="ar-JO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ar-J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ما العَدد الّذي يَختَبِئ وَراء كُلّ صُورَة؟ </a:t>
            </a:r>
          </a:p>
          <a:p>
            <a:pPr algn="ctr"/>
            <a:endParaRPr lang="ar-JO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ar-J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(تَختبئ وَراء الصُّوَر المُتَشابِهَة أرقام مُتساوِيَة)</a:t>
            </a:r>
            <a:endParaRPr lang="he-IL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he-IL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4" name="תמונה 23">
            <a:extLst>
              <a:ext uri="{FF2B5EF4-FFF2-40B4-BE49-F238E27FC236}">
                <a16:creationId xmlns:a16="http://schemas.microsoft.com/office/drawing/2014/main" id="{1A39D532-CB7A-34F3-A0A2-EFB5B0802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085" y="626487"/>
            <a:ext cx="5908641" cy="5083097"/>
          </a:xfrm>
          <a:prstGeom prst="rect">
            <a:avLst/>
          </a:prstGeom>
        </p:spPr>
      </p:pic>
      <p:pic>
        <p:nvPicPr>
          <p:cNvPr id="2" name="תמונה 1">
            <a:extLst>
              <a:ext uri="{FF2B5EF4-FFF2-40B4-BE49-F238E27FC236}">
                <a16:creationId xmlns:a16="http://schemas.microsoft.com/office/drawing/2014/main" id="{7A299648-7F7D-98D4-693A-557FA3813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38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2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25BFE0C-BDFF-479C-9460-1AA10609635D}"/>
              </a:ext>
            </a:extLst>
          </p:cNvPr>
          <p:cNvSpPr txBox="1"/>
          <p:nvPr/>
        </p:nvSpPr>
        <p:spPr>
          <a:xfrm>
            <a:off x="584616" y="299803"/>
            <a:ext cx="105830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الحَلّ:</a:t>
            </a:r>
            <a:endParaRPr lang="he-IL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96A89EAC-B255-4870-F7CB-51D96CA6F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303" y="1111260"/>
            <a:ext cx="3415875" cy="5446937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01FA9BA1-D51C-327A-16C9-D2A2B3939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38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037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C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934109E-3158-A9BF-8F10-1E3F34BE11BB}"/>
              </a:ext>
            </a:extLst>
          </p:cNvPr>
          <p:cNvSpPr txBox="1"/>
          <p:nvPr/>
        </p:nvSpPr>
        <p:spPr>
          <a:xfrm>
            <a:off x="8184630" y="926290"/>
            <a:ext cx="380375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ما العَدد الّذي يَختَبِئ وَراء علامَة السُّؤال (؟) ؟ </a:t>
            </a:r>
          </a:p>
          <a:p>
            <a:pPr algn="ctr"/>
            <a:endParaRPr lang="ar-JO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ar-J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(تَختبئ وَراء الصُّوَر المُتَشابِهَة أرقام مُتساوِيَة)</a:t>
            </a:r>
            <a:endParaRPr lang="he-IL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he-IL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988E47D7-AFD4-C7FA-796E-9C43C949C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859" y="685901"/>
            <a:ext cx="5939771" cy="4995372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F6C31F6D-A483-86BA-F0D1-7960687C0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38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122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25BFE0C-BDFF-479C-9460-1AA10609635D}"/>
              </a:ext>
            </a:extLst>
          </p:cNvPr>
          <p:cNvSpPr txBox="1"/>
          <p:nvPr/>
        </p:nvSpPr>
        <p:spPr>
          <a:xfrm>
            <a:off x="584616" y="299803"/>
            <a:ext cx="105830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الحَلّ:</a:t>
            </a:r>
            <a:endParaRPr lang="he-IL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52D0E241-1836-D71F-F88E-C497CF10D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076" y="1096143"/>
            <a:ext cx="5994170" cy="5045551"/>
          </a:xfrm>
          <a:prstGeom prst="rect">
            <a:avLst/>
          </a:prstGeom>
        </p:spPr>
      </p:pic>
      <p:pic>
        <p:nvPicPr>
          <p:cNvPr id="2" name="תמונה 1">
            <a:extLst>
              <a:ext uri="{FF2B5EF4-FFF2-40B4-BE49-F238E27FC236}">
                <a16:creationId xmlns:a16="http://schemas.microsoft.com/office/drawing/2014/main" id="{D9442C84-DE9E-A6EC-155D-40B153F78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" y="0"/>
            <a:ext cx="2038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0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C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934109E-3158-A9BF-8F10-1E3F34BE11BB}"/>
              </a:ext>
            </a:extLst>
          </p:cNvPr>
          <p:cNvSpPr txBox="1"/>
          <p:nvPr/>
        </p:nvSpPr>
        <p:spPr>
          <a:xfrm>
            <a:off x="8199620" y="926290"/>
            <a:ext cx="378876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ما العَدد الّذي يَختَبِئ وَراء علامَة السُّؤال (؟) ؟ </a:t>
            </a:r>
          </a:p>
          <a:p>
            <a:pPr algn="ctr"/>
            <a:endParaRPr lang="ar-JO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ar-J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(تَختبئ وَراء الصُّوَر المُتَشابِهَة أرقام مُتساوِيَة)</a:t>
            </a:r>
            <a:endParaRPr lang="he-IL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he-IL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2E960F07-4A68-849E-C09C-D93C4A3B7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651" y="758378"/>
            <a:ext cx="5941969" cy="5341243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2EB6325E-825D-7C4D-6919-9AEEF7C02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38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926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25BFE0C-BDFF-479C-9460-1AA10609635D}"/>
              </a:ext>
            </a:extLst>
          </p:cNvPr>
          <p:cNvSpPr txBox="1"/>
          <p:nvPr/>
        </p:nvSpPr>
        <p:spPr>
          <a:xfrm>
            <a:off x="584616" y="299803"/>
            <a:ext cx="105830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الحَلّ:</a:t>
            </a:r>
            <a:endParaRPr lang="he-IL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4" name="תמונה 13">
            <a:extLst>
              <a:ext uri="{FF2B5EF4-FFF2-40B4-BE49-F238E27FC236}">
                <a16:creationId xmlns:a16="http://schemas.microsoft.com/office/drawing/2014/main" id="{4E1136D0-F1F6-4786-12A9-6D715A6B2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5187" y="884578"/>
            <a:ext cx="3587633" cy="5398213"/>
          </a:xfrm>
          <a:prstGeom prst="rect">
            <a:avLst/>
          </a:prstGeom>
        </p:spPr>
      </p:pic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E6476ECA-B86B-3E65-EDBE-6A65D38E88BD}"/>
              </a:ext>
            </a:extLst>
          </p:cNvPr>
          <p:cNvSpPr txBox="1"/>
          <p:nvPr/>
        </p:nvSpPr>
        <p:spPr>
          <a:xfrm>
            <a:off x="1708879" y="2782669"/>
            <a:ext cx="500526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JO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العَدَد النّاقِص هو: 9</a:t>
            </a:r>
            <a:endParaRPr lang="he-IL" sz="3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6" name="תמונה 15">
            <a:extLst>
              <a:ext uri="{FF2B5EF4-FFF2-40B4-BE49-F238E27FC236}">
                <a16:creationId xmlns:a16="http://schemas.microsoft.com/office/drawing/2014/main" id="{29AB8258-8020-E587-3D5F-91E6AFBF2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38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934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C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934109E-3158-A9BF-8F10-1E3F34BE11BB}"/>
              </a:ext>
            </a:extLst>
          </p:cNvPr>
          <p:cNvSpPr txBox="1"/>
          <p:nvPr/>
        </p:nvSpPr>
        <p:spPr>
          <a:xfrm>
            <a:off x="8529403" y="926290"/>
            <a:ext cx="345897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ما العَدد الّذي يَختَبِئ وَراء علامَة السُّؤال (؟) ؟ </a:t>
            </a:r>
          </a:p>
          <a:p>
            <a:pPr algn="ctr"/>
            <a:endParaRPr lang="ar-JO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ar-J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(تَختبئ وَراء الصُّوَر المُتَشابِهَة أرقام مُتساوِيَة)</a:t>
            </a:r>
            <a:endParaRPr lang="he-IL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he-IL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35166EE3-FEFA-586B-52A5-0D4C375F5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776" y="490891"/>
            <a:ext cx="6050627" cy="5876218"/>
          </a:xfrm>
          <a:prstGeom prst="rect">
            <a:avLst/>
          </a:prstGeom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3187F6D0-FF41-A3B6-809E-AE027DC12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38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772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25BFE0C-BDFF-479C-9460-1AA10609635D}"/>
              </a:ext>
            </a:extLst>
          </p:cNvPr>
          <p:cNvSpPr txBox="1"/>
          <p:nvPr/>
        </p:nvSpPr>
        <p:spPr>
          <a:xfrm>
            <a:off x="584616" y="299803"/>
            <a:ext cx="105830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الحَلّ:</a:t>
            </a:r>
            <a:endParaRPr lang="he-IL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E6476ECA-B86B-3E65-EDBE-6A65D38E88BD}"/>
              </a:ext>
            </a:extLst>
          </p:cNvPr>
          <p:cNvSpPr txBox="1"/>
          <p:nvPr/>
        </p:nvSpPr>
        <p:spPr>
          <a:xfrm>
            <a:off x="2038662" y="2782668"/>
            <a:ext cx="500526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JO" sz="3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العَدَد النّاقِص هو: 14</a:t>
            </a:r>
            <a:endParaRPr lang="he-IL" sz="3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398AAFFE-FEDD-1738-433A-B4BF92D63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819" y="668500"/>
            <a:ext cx="3644931" cy="5520999"/>
          </a:xfrm>
          <a:prstGeom prst="rect">
            <a:avLst/>
          </a:prstGeom>
        </p:spPr>
      </p:pic>
      <p:pic>
        <p:nvPicPr>
          <p:cNvPr id="2" name="תמונה 1">
            <a:extLst>
              <a:ext uri="{FF2B5EF4-FFF2-40B4-BE49-F238E27FC236}">
                <a16:creationId xmlns:a16="http://schemas.microsoft.com/office/drawing/2014/main" id="{F9084064-D4B5-1D7A-7738-35E9889AF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38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506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C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934109E-3158-A9BF-8F10-1E3F34BE11BB}"/>
              </a:ext>
            </a:extLst>
          </p:cNvPr>
          <p:cNvSpPr txBox="1"/>
          <p:nvPr/>
        </p:nvSpPr>
        <p:spPr>
          <a:xfrm>
            <a:off x="7839855" y="341674"/>
            <a:ext cx="4043593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في كُلّ سَطر، عَمود وَمُستَطيل مُشَدَّد 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2x3</a:t>
            </a:r>
            <a:r>
              <a:rPr lang="ar-J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يوجَد 6 صُور مُختَلِفَة (صَحن زَيتون، صَحن زَيت، حَبّ زَيتون أسوَد، شَجَرة زَيتون، اِبريق زَيت، حَبّ زَيتون أخضَر )</a:t>
            </a:r>
          </a:p>
          <a:p>
            <a:pPr algn="ctr"/>
            <a:endParaRPr lang="ar-JO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ar-JO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ما الصُّورَة التي يَجب أنْ تَكونَ في المُرَبَّع المُشار إليه بِعلامَة سُؤال؟  </a:t>
            </a:r>
            <a:endParaRPr lang="he-IL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9FD11B9C-24FB-267E-00DB-210E3480B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746" y="514683"/>
            <a:ext cx="5696109" cy="5625787"/>
          </a:xfrm>
          <a:prstGeom prst="rect">
            <a:avLst/>
          </a:prstGeom>
        </p:spPr>
      </p:pic>
      <p:pic>
        <p:nvPicPr>
          <p:cNvPr id="2" name="תמונה 1">
            <a:extLst>
              <a:ext uri="{FF2B5EF4-FFF2-40B4-BE49-F238E27FC236}">
                <a16:creationId xmlns:a16="http://schemas.microsoft.com/office/drawing/2014/main" id="{7041BD13-D81C-9C34-DC52-136310131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38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658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25BFE0C-BDFF-479C-9460-1AA10609635D}"/>
              </a:ext>
            </a:extLst>
          </p:cNvPr>
          <p:cNvSpPr txBox="1"/>
          <p:nvPr/>
        </p:nvSpPr>
        <p:spPr>
          <a:xfrm>
            <a:off x="-284814" y="541934"/>
            <a:ext cx="105830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الحَلّ:</a:t>
            </a:r>
            <a:endParaRPr lang="he-IL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E6476ECA-B86B-3E65-EDBE-6A65D38E88BD}"/>
              </a:ext>
            </a:extLst>
          </p:cNvPr>
          <p:cNvSpPr txBox="1"/>
          <p:nvPr/>
        </p:nvSpPr>
        <p:spPr>
          <a:xfrm>
            <a:off x="2458387" y="1493516"/>
            <a:ext cx="3901385" cy="39703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JO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الصُّورة النّاقِصَة هي شَجَرة الزَّيتون.</a:t>
            </a:r>
          </a:p>
          <a:p>
            <a:r>
              <a:rPr lang="ar-JO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اِنتَبِهوا، يُمكِن إيجاد الإجابَة دونَ تَعبِئَة الصُّوَر في جَميع المُرَبَّعات في الجَدوَل.</a:t>
            </a:r>
            <a:endParaRPr lang="he-IL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F2E9C5FA-00DC-4F7D-6F31-3A0995F17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1005" y="769390"/>
            <a:ext cx="4950963" cy="4926872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F61CF41F-1CE5-5542-0796-BA2CC92AA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0386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511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C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934109E-3158-A9BF-8F10-1E3F34BE11BB}"/>
              </a:ext>
            </a:extLst>
          </p:cNvPr>
          <p:cNvSpPr txBox="1"/>
          <p:nvPr/>
        </p:nvSpPr>
        <p:spPr>
          <a:xfrm>
            <a:off x="7596544" y="266122"/>
            <a:ext cx="462790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عَليكُم الوُصول حتّى نِهايَة </a:t>
            </a:r>
          </a:p>
          <a:p>
            <a:pPr algn="ctr"/>
            <a:r>
              <a:rPr lang="ar-J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المَسار مع الحِفاظ على التَّقدُّم</a:t>
            </a:r>
          </a:p>
          <a:p>
            <a:pPr algn="ctr"/>
            <a:r>
              <a:rPr lang="ar-J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بِحَسَب تَرتيب الصُّوَر:</a:t>
            </a:r>
            <a:r>
              <a:rPr lang="ar-JO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algn="ctr"/>
            <a:endParaRPr lang="ar-JO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he-IL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he-IL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he-IL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" name="תמונה 9">
            <a:extLst>
              <a:ext uri="{FF2B5EF4-FFF2-40B4-BE49-F238E27FC236}">
                <a16:creationId xmlns:a16="http://schemas.microsoft.com/office/drawing/2014/main" id="{E0F5774C-B87E-1794-6C68-FAB1376E4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718" y="3043561"/>
            <a:ext cx="3892618" cy="1014418"/>
          </a:xfrm>
          <a:prstGeom prst="rect">
            <a:avLst/>
          </a:prstGeom>
        </p:spPr>
      </p:pic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9DF571DC-C800-7AA3-4A3C-C23587535F87}"/>
              </a:ext>
            </a:extLst>
          </p:cNvPr>
          <p:cNvSpPr txBox="1"/>
          <p:nvPr/>
        </p:nvSpPr>
        <p:spPr>
          <a:xfrm>
            <a:off x="10876615" y="1940008"/>
            <a:ext cx="13153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اِبريق</a:t>
            </a:r>
          </a:p>
          <a:p>
            <a:pPr algn="ctr"/>
            <a:r>
              <a:rPr lang="ar-J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زَيت </a:t>
            </a:r>
            <a:endParaRPr lang="he-IL" sz="2400" dirty="0"/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7C257655-3245-DDF6-F4BD-8DFF963BB45F}"/>
              </a:ext>
            </a:extLst>
          </p:cNvPr>
          <p:cNvSpPr txBox="1"/>
          <p:nvPr/>
        </p:nvSpPr>
        <p:spPr>
          <a:xfrm>
            <a:off x="9252803" y="1999083"/>
            <a:ext cx="13153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زَيتون أسوَد</a:t>
            </a:r>
            <a:endParaRPr lang="he-IL" sz="2400" dirty="0"/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6B613166-FFFE-B1C3-C7C2-B1906B0D4197}"/>
              </a:ext>
            </a:extLst>
          </p:cNvPr>
          <p:cNvSpPr txBox="1"/>
          <p:nvPr/>
        </p:nvSpPr>
        <p:spPr>
          <a:xfrm>
            <a:off x="7785951" y="2054085"/>
            <a:ext cx="14490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2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شَجرَة زَيتون</a:t>
            </a:r>
            <a:endParaRPr lang="he-IL" sz="2400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23C4B37A-72D6-5330-B06F-BFEF62C03218}"/>
              </a:ext>
            </a:extLst>
          </p:cNvPr>
          <p:cNvSpPr txBox="1"/>
          <p:nvPr/>
        </p:nvSpPr>
        <p:spPr>
          <a:xfrm>
            <a:off x="10081549" y="2054085"/>
            <a:ext cx="11612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4000" b="1" dirty="0"/>
              <a:t>-</a:t>
            </a:r>
            <a:endParaRPr lang="he-IL" sz="4000" b="1" dirty="0"/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9CB57EEA-E3B6-1D6B-16DA-D3FD2DB0FA5A}"/>
              </a:ext>
            </a:extLst>
          </p:cNvPr>
          <p:cNvSpPr txBox="1"/>
          <p:nvPr/>
        </p:nvSpPr>
        <p:spPr>
          <a:xfrm>
            <a:off x="8588550" y="2060638"/>
            <a:ext cx="11612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4000" b="1" dirty="0"/>
              <a:t>-</a:t>
            </a:r>
            <a:endParaRPr lang="he-IL" sz="4000" b="1" dirty="0"/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EF517C5E-2302-DBBB-4598-26A37EF737BF}"/>
              </a:ext>
            </a:extLst>
          </p:cNvPr>
          <p:cNvSpPr txBox="1"/>
          <p:nvPr/>
        </p:nvSpPr>
        <p:spPr>
          <a:xfrm>
            <a:off x="7914807" y="4570261"/>
            <a:ext cx="418868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لا يَجوز المُرور على نَفس الخانَة أكثَر مِن مَرَّة واحِدة.</a:t>
            </a:r>
            <a:endParaRPr lang="he-IL" dirty="0"/>
          </a:p>
        </p:txBody>
      </p:sp>
      <p:pic>
        <p:nvPicPr>
          <p:cNvPr id="20" name="תמונה 19">
            <a:extLst>
              <a:ext uri="{FF2B5EF4-FFF2-40B4-BE49-F238E27FC236}">
                <a16:creationId xmlns:a16="http://schemas.microsoft.com/office/drawing/2014/main" id="{C216C0C6-5EA7-E192-31AA-3525EA910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883" y="283861"/>
            <a:ext cx="6067147" cy="6067147"/>
          </a:xfrm>
          <a:prstGeom prst="rect">
            <a:avLst/>
          </a:prstGeom>
        </p:spPr>
      </p:pic>
      <p:pic>
        <p:nvPicPr>
          <p:cNvPr id="21" name="תמונה 20">
            <a:extLst>
              <a:ext uri="{FF2B5EF4-FFF2-40B4-BE49-F238E27FC236}">
                <a16:creationId xmlns:a16="http://schemas.microsoft.com/office/drawing/2014/main" id="{4C5C97FA-4659-926A-3D21-02410DC6F3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277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638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225BFE0C-BDFF-479C-9460-1AA10609635D}"/>
              </a:ext>
            </a:extLst>
          </p:cNvPr>
          <p:cNvSpPr txBox="1"/>
          <p:nvPr/>
        </p:nvSpPr>
        <p:spPr>
          <a:xfrm>
            <a:off x="804472" y="192408"/>
            <a:ext cx="105830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ar-JO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حُلول مُمكِنَة</a:t>
            </a:r>
            <a:endParaRPr lang="he-IL" sz="32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DC5441C8-DE9E-E874-4D10-B01439518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09" y="898507"/>
            <a:ext cx="3718306" cy="3825725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325E40E8-8604-943A-333A-D9089E6EC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716" y="838442"/>
            <a:ext cx="3843308" cy="3851944"/>
          </a:xfrm>
          <a:prstGeom prst="rect">
            <a:avLst/>
          </a:prstGeom>
        </p:spPr>
      </p:pic>
      <p:pic>
        <p:nvPicPr>
          <p:cNvPr id="13" name="תמונה 12">
            <a:extLst>
              <a:ext uri="{FF2B5EF4-FFF2-40B4-BE49-F238E27FC236}">
                <a16:creationId xmlns:a16="http://schemas.microsoft.com/office/drawing/2014/main" id="{8BB81823-4D31-44D0-E7AA-AE4333E69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6558" y="885396"/>
            <a:ext cx="3738415" cy="3851945"/>
          </a:xfrm>
          <a:prstGeom prst="rect">
            <a:avLst/>
          </a:prstGeom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41205436-699F-ED05-16DF-1B068F745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5076669" y="-257331"/>
            <a:ext cx="2038662" cy="121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1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C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14431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" name="תמונה 2" descr="תמונה שמכילה ירק, ירוק, צמח&#10;&#10;התיאור נוצר באופן אוטומטי">
            <a:extLst>
              <a:ext uri="{FF2B5EF4-FFF2-40B4-BE49-F238E27FC236}">
                <a16:creationId xmlns:a16="http://schemas.microsoft.com/office/drawing/2014/main" id="{43CEDDBF-51B3-812F-33C8-F5431B4BB2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31" r="1" b="15513"/>
          <a:stretch/>
        </p:blipFill>
        <p:spPr>
          <a:xfrm>
            <a:off x="0" y="-1"/>
            <a:ext cx="11419052" cy="6857990"/>
          </a:xfrm>
          <a:prstGeom prst="rect">
            <a:avLst/>
          </a:prstGeom>
        </p:spPr>
      </p:pic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CEFDB412-E777-0078-F60F-DCE1A4855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82194" y="3050852"/>
            <a:ext cx="6858001" cy="756295"/>
          </a:xfrm>
          <a:prstGeom prst="rect">
            <a:avLst/>
          </a:prstGeom>
          <a:ln>
            <a:noFill/>
          </a:ln>
          <a:effectLst>
            <a:outerShdw blurRad="203200" dist="101600" dir="930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D2038E5-96D3-2DAE-7EEA-3E40ABD0E1D7}"/>
              </a:ext>
            </a:extLst>
          </p:cNvPr>
          <p:cNvSpPr txBox="1"/>
          <p:nvPr/>
        </p:nvSpPr>
        <p:spPr>
          <a:xfrm>
            <a:off x="5407263" y="3949502"/>
            <a:ext cx="5455162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JO" sz="60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نَتمنّى لكم مَوسِمًا مُثمِرًا</a:t>
            </a:r>
            <a:endParaRPr kumimoji="0" lang="he-IL" sz="6000" b="1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0E57B1FE-9E91-0689-6AFF-0F1C0799B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623" y="131755"/>
            <a:ext cx="4448183" cy="3645766"/>
          </a:xfrm>
          <a:prstGeom prst="rect">
            <a:avLst/>
          </a:prstGeom>
        </p:spPr>
      </p:pic>
      <p:pic>
        <p:nvPicPr>
          <p:cNvPr id="7" name="תמונה 6" descr="תמונה שמכילה דומם, אגרטל, בקבוק, צהוב&#10;&#10;התיאור נוצר באופן אוטומטי">
            <a:extLst>
              <a:ext uri="{FF2B5EF4-FFF2-40B4-BE49-F238E27FC236}">
                <a16:creationId xmlns:a16="http://schemas.microsoft.com/office/drawing/2014/main" id="{F9283A3F-DBAE-F577-7232-CA70063022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36" y="0"/>
            <a:ext cx="2887228" cy="2887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139033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510</TotalTime>
  <Words>230</Words>
  <Application>Microsoft Office PowerPoint</Application>
  <PresentationFormat>Widescreen</PresentationFormat>
  <Paragraphs>45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Tahoma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ראיד שיח' אחמד</dc:creator>
  <cp:lastModifiedBy>Dorit Neria</cp:lastModifiedBy>
  <cp:revision>19</cp:revision>
  <dcterms:created xsi:type="dcterms:W3CDTF">2024-10-13T07:27:54Z</dcterms:created>
  <dcterms:modified xsi:type="dcterms:W3CDTF">2024-10-15T12:26:02Z</dcterms:modified>
</cp:coreProperties>
</file>